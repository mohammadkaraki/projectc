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1219200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88824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16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انقر لتحرير نمط العنوان الرئيسي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9875328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2880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262665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21043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10438616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"نظرة عامة"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3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"التوصية"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3299749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التأثير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933217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المخاطر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7459104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8052849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"تحليل"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أكثر من 4.5 غيغاواط 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الطاقة الخضراء المولَّدة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ما يعادل ثاني أكسيد الكربون المُهجّر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square" rtlCol="0" anchor="ctr">
              <a:spAutoFit/>
            </a:bodyPr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tlCol="0" anchor="ctr" wrap="square">
              <a:spAutoFit/>
            </a:bodyPr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000000"/>
                  </a:solidFill>
                  <a:latin typeface="Calibri"/>
                </a:rPr>
                <a:t>المعادل البديل للديزل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تكنولوجيا نظيفة تقدم للشركات والأسر حلول طاقة نظيفة وموثوقة قابلة للتوسيع والتجميع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٣ مليون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"تجنب انبعاث ثاني أكسيد الكربون"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شركة ناشئة من مدرسة بوليتكنيك لوزان الاتحادية تحول السليلوز واللينين انتقائياً إلى منتجات كيميائية تضاف قيمة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"100%"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rtlCol="0" anchor="ctr" wrap="square">
            <a:spAutoFit/>
          </a:bodyPr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000000"/>
                </a:solidFill>
                <a:latin typeface="Calibri"/>
              </a:rPr>
              <a:t>منصة تصنيع حيوي مملوكة تنتج دهون عالية القيمة لصناعات الجمال والعناية الشخصية والعناية بالمنزل والغذاء.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١٢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square" rtlCol="0" anchor="ctr">
                <a:sp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tlCol="0" anchor="ctr" wrap="square">
                <a:sp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000000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rtlCol="0"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anchor="ctr"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بناءً على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</a:p>
          <a:p>
            <a:pPr algn="r"/>
            <a:r>
              <a:rPr b="1" sz="1080">
                <a:solidFill>
                  <a:srgbClr val="000000"/>
                </a:solidFill>
                <a:latin typeface="Calibri"/>
              </a:rPr>
              <a:t>استيلاء على الانبعاثات الصعبة القابلة للتقليل / تحويل الكربون</a:t>
            </a:r>
          </a:p>
          <a:p>
            <a:pPr algn="r"/>
            <a:r>
              <a:rPr sz="990">
                <a:solidFill>
                  <a:srgbClr val="000000"/>
                </a:solidFill>
                <a:latin typeface="Calibri"/>
              </a:rPr>
              <a:t>إزالة ثاني أكسيد الكربون (على سبيل المثال، غاز العادم)</a:t>
            </a:r>
          </a:p>
          <a:p>
            <a:pPr algn="r"/>
            <a:r>
              <a:rPr sz="990">
                <a:solidFill>
                  <a:srgbClr val="000000"/>
                </a:solidFill>
                <a:latin typeface="Calibri"/>
              </a:rPr>
              <a:t>تحويل ثاني أكسيد الكربون (التفكك الحراري، التحلل المائي، التحليل الكهربائي، إلخ)، الاستخدام والتخزين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</a:p>
          <a:p>
            <a:pPr algn="r"/>
            <a:r>
              <a:rPr b="1" sz="1260">
                <a:solidFill>
                  <a:srgbClr val="FFFFFF"/>
                </a:solidFill>
                <a:latin typeface="Calibri"/>
              </a:rPr>
              <a:t>استخلاص الكربون</a:t>
            </a:r>
          </a:p>
          <a:p>
            <a:pPr algn="r"/>
            <a:r>
              <a:rPr b="1" sz="1260">
                <a:solidFill>
                  <a:srgbClr val="FFFFFF"/>
                </a:solidFill>
                <a:latin typeface="Calibri"/>
              </a:rPr>
              <a:t>وتخزين واستخدام ثاني أكسيد الكربون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</a:p>
          <a:p>
            <a:pPr algn="r"/>
            <a:r>
              <a:rPr b="1" sz="1080">
                <a:solidFill>
                  <a:srgbClr val="FFFFFF"/>
                </a:solidFill>
                <a:latin typeface="Calibri"/>
              </a:rPr>
              <a:t>"4"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rtlCol="0" anchor="ctr" wrap="square">
            <a:spAutoFit/>
          </a:bodyPr>
          <a:lstStyle/>
          <a:p>
            <a:pPr algn="r" defTabSz="822960">
              <a:buClr>
                <a:srgbClr val="00E6A0"/>
              </a:buClr>
              <a:defRPr/>
            </a:pPr>
          </a:p>
          <a:p>
            <a:pPr algn="r"/>
            <a:r>
              <a:rPr b="1" i="1" sz="1080">
                <a:solidFill>
                  <a:srgbClr val="031122"/>
                </a:solidFill>
                <a:latin typeface="Calibri"/>
              </a:rPr>
              <a:t>انبعاثات غازات الدفيئة 2</a:t>
            </a:r>
          </a:p>
          <a:p>
            <a:pPr algn="r"/>
            <a:r>
              <a:rPr b="1" i="1" sz="1080">
                <a:solidFill>
                  <a:srgbClr val="031122"/>
                </a:solidFill>
                <a:latin typeface="Calibri"/>
              </a:rPr>
              <a:t>والنفايات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</a:p>
          <a:p>
            <a:pPr algn="r"/>
            <a:r>
              <a:rPr b="1" sz="1080">
                <a:solidFill>
                  <a:srgbClr val="000000"/>
                </a:solidFill>
                <a:latin typeface="Calibri"/>
              </a:rPr>
              <a:t>تمكين التقنيات النظيفة للمداخل الصناعية</a:t>
            </a:r>
          </a:p>
          <a:p>
            <a:pPr algn="r"/>
            <a:r>
              <a:rPr sz="990">
                <a:solidFill>
                  <a:srgbClr val="000000"/>
                </a:solidFill>
                <a:latin typeface="Calibri"/>
              </a:rPr>
              <a:t>تقنية المياه / تقنية الزراعة</a:t>
            </a:r>
          </a:p>
          <a:p>
            <a:pPr algn="r"/>
            <a:r>
              <a:rPr sz="990">
                <a:solidFill>
                  <a:srgbClr val="000000"/>
                </a:solidFill>
                <a:latin typeface="Calibri"/>
              </a:rPr>
              <a:t>تقنيات المناخ الرقمي (الناعم) وتمكين تقنيات البيانات</a:t>
            </a:r>
          </a:p>
          <a:p>
            <a:pPr algn="r"/>
            <a:r>
              <a:rPr sz="990">
                <a:solidFill>
                  <a:srgbClr val="000000"/>
                </a:solidFill>
                <a:latin typeface="Calibri"/>
              </a:rPr>
              <a:t>نماذج أعمال جديدة</a:t>
            </a: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</a:p>
          <a:p>
            <a:pPr algn="r"/>
            <a:r>
              <a:rPr b="1" sz="1260">
                <a:solidFill>
                  <a:srgbClr val="FFFFFF"/>
                </a:solidFill>
                <a:latin typeface="Calibri"/>
              </a:rPr>
              <a:t>المدخلات الصناعية_x000B_التقنيات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  <a:p>
            <a:pPr algn="r"/>
            <a:r>
              <a:rPr b="1" sz="1080">
                <a:solidFill>
                  <a:srgbClr val="FFFFFF"/>
                </a:solidFill>
                <a:latin typeface="Calibri"/>
              </a:rPr>
              <a:t>"3"</a:t>
            </a: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</a:p>
          <a:p>
            <a:pPr algn="r"/>
            <a:r>
              <a:rPr b="1" sz="1080">
                <a:solidFill>
                  <a:srgbClr val="000000"/>
                </a:solidFill>
                <a:latin typeface="Calibri"/>
              </a:rPr>
              <a:t>تقليل الانبعاثات الصعبة الحد منها و/أو تجنبها</a:t>
            </a:r>
          </a:p>
          <a:p>
            <a:pPr algn="r"/>
            <a:r>
              <a:rPr sz="990">
                <a:solidFill>
                  <a:srgbClr val="000000"/>
                </a:solidFill>
                <a:latin typeface="Calibri"/>
              </a:rPr>
              <a:t>تحويل الصناعات لاستخدام الطاقة الخضراء وتسخينها</a:t>
            </a:r>
          </a:p>
          <a:p>
            <a:pPr algn="r"/>
            <a:r>
              <a:rPr sz="990">
                <a:solidFill>
                  <a:srgbClr val="000000"/>
                </a:solidFill>
                <a:latin typeface="Calibri"/>
              </a:rPr>
              <a:t>تخزين الطاقة طويلة المدى</a:t>
            </a:r>
          </a:p>
          <a:p>
            <a:pPr algn="r"/>
            <a:r>
              <a:rPr sz="990">
                <a:solidFill>
                  <a:srgbClr val="000000"/>
                </a:solidFill>
                <a:latin typeface="Calibri"/>
              </a:rPr>
              <a:t>الوقود الحيوي والوقود المستدام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</a:p>
          <a:p>
            <a:pPr algn="r"/>
            <a:r>
              <a:rPr b="1" sz="1260">
                <a:solidFill>
                  <a:srgbClr val="FFFFFF"/>
                </a:solidFill>
                <a:latin typeface="Calibri"/>
              </a:rPr>
              <a:t>تحويل الوقود</a:t>
            </a:r>
          </a:p>
          <a:p>
            <a:pPr algn="r"/>
            <a:r>
              <a:rPr b="1" sz="1260">
                <a:solidFill>
                  <a:srgbClr val="FFFFFF"/>
                </a:solidFill>
                <a:latin typeface="Calibri"/>
              </a:rPr>
              <a:t>وتخزين الطاقة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  <a:p>
            <a:pPr algn="r"/>
            <a:r>
              <a:rPr b="1" sz="1080">
                <a:solidFill>
                  <a:srgbClr val="FFFFFF"/>
                </a:solidFill>
                <a:latin typeface="Calibri"/>
              </a:rPr>
              <a:t>"1"</a:t>
            </a: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rtlCol="0" anchor="ctr" wrap="square">
            <a:spAutoFit/>
          </a:bodyPr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</a:p>
          <a:p>
            <a:pPr algn="r"/>
            <a:r>
              <a:rPr b="1" i="1" sz="1080">
                <a:solidFill>
                  <a:srgbClr val="031122"/>
                </a:solidFill>
                <a:latin typeface="Calibri"/>
              </a:rPr>
              <a:t>توريد الطاقة</a:t>
            </a:r>
          </a:p>
          <a:p>
            <a:pPr algn="r"/>
            <a:r>
              <a:rPr b="1" i="1" sz="1080">
                <a:solidFill>
                  <a:srgbClr val="031122"/>
                </a:solidFill>
                <a:latin typeface="Calibri"/>
              </a:rPr>
              <a:t>وتخزينها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</a:p>
          <a:p>
            <a:pPr algn="r"/>
            <a:r>
              <a:rPr b="1" sz="1080">
                <a:solidFill>
                  <a:srgbClr val="000000"/>
                </a:solidFill>
                <a:latin typeface="Calibri"/>
              </a:rPr>
              <a:t>تسهيل اقتصاد صناعي خالٍ من الكربون</a:t>
            </a:r>
          </a:p>
          <a:p>
            <a:pPr algn="r"/>
            <a:r>
              <a:rPr sz="990">
                <a:solidFill>
                  <a:srgbClr val="000000"/>
                </a:solidFill>
                <a:latin typeface="Calibri"/>
              </a:rPr>
              <a:t>كفاءة الطاقة</a:t>
            </a:r>
          </a:p>
          <a:p>
            <a:pPr algn="r"/>
            <a:r>
              <a:rPr sz="990">
                <a:solidFill>
                  <a:srgbClr val="000000"/>
                </a:solidFill>
                <a:latin typeface="Calibri"/>
              </a:rPr>
              <a:t>مواد جديدة/متقدمة</a:t>
            </a:r>
          </a:p>
          <a:p>
            <a:pPr algn="r"/>
            <a:r>
              <a:rPr sz="990">
                <a:solidFill>
                  <a:srgbClr val="000000"/>
                </a:solidFill>
                <a:latin typeface="Calibri"/>
              </a:rPr>
              <a:t>تقنيات تعالج التنظيمات والقيود الكربونية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</a:p>
          <a:p>
            <a:pPr algn="r"/>
            <a:r>
              <a:rPr b="1" sz="1260">
                <a:solidFill>
                  <a:srgbClr val="FFFFFF"/>
                </a:solidFill>
                <a:latin typeface="Calibri"/>
              </a:rPr>
              <a:t>حلول لتوفير تكاليف الصناعة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 wrap="square">
            <a:spAutoFit/>
          </a:bodyPr>
          <a:lstStyle/>
          <a:p>
            <a:pPr algn="r" defTabSz="822960">
              <a:defRPr/>
            </a:pP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  <a:p>
            <a:pPr algn="r"/>
            <a:r>
              <a:rPr b="1" sz="1080">
                <a:solidFill>
                  <a:srgbClr val="FFFFFF"/>
                </a:solidFill>
                <a:latin typeface="Calibri"/>
              </a:rPr>
              <a:t>"2"</a:t>
            </a: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rtlCol="0" anchor="ctr" wrap="square">
            <a:spAutoFit/>
          </a:bodyPr>
          <a:lstStyle/>
          <a:p>
            <a:pPr algn="r" defTabSz="822960">
              <a:buClr>
                <a:srgbClr val="00E6A0"/>
              </a:buClr>
              <a:defRPr/>
            </a:pPr>
          </a:p>
          <a:p>
            <a:pPr algn="r"/>
            <a:r>
              <a:rPr b="1" i="1" sz="1080">
                <a:solidFill>
                  <a:srgbClr val="000000"/>
                </a:solidFill>
                <a:latin typeface="Calibri"/>
              </a:rPr>
              <a:t>الطاقة</a:t>
            </a:r>
          </a:p>
          <a:p>
            <a:pPr algn="r"/>
            <a:r>
              <a:rPr b="1" i="1" sz="1080">
                <a:solidFill>
                  <a:srgbClr val="000000"/>
                </a:solidFill>
                <a:latin typeface="Calibri"/>
              </a:rPr>
              <a:t>التحسين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rtlCol="0" anchor="ctr" wrap="square">
            <a:spAutoFit/>
          </a:bodyPr>
          <a:lstStyle/>
          <a:p>
            <a:pPr algn="r" defTabSz="822960">
              <a:buClr>
                <a:srgbClr val="00E6A0"/>
              </a:buClr>
              <a:defRPr/>
            </a:pPr>
          </a:p>
          <a:p>
            <a:pPr algn="r"/>
            <a:r>
              <a:rPr b="1" i="1" sz="1080">
                <a:solidFill>
                  <a:srgbClr val="000000"/>
                </a:solidFill>
                <a:latin typeface="Calibri"/>
              </a:rPr>
              <a:t>تحسين مدخلات الصناعة الأخرى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rtlCol="0" wrap="square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دورة الحياة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anchor="ctr" wrap="square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دورة حياة استهلاك الطاقة موزعة على 4 مراحل أساسية مختلفة</a:t>
            </a: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