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5.xml"/><Relationship Id="rId21" Type="http://schemas.openxmlformats.org/officeDocument/2006/relationships/image" Target="../media/image3.pn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1.emf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image" Target="../media/image5.png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image" Target="../media/image4.png"/><Relationship Id="rId10" Type="http://schemas.openxmlformats.org/officeDocument/2006/relationships/tags" Target="../tags/tag12.xml"/><Relationship Id="rId19" Type="http://schemas.openxmlformats.org/officeDocument/2006/relationships/oleObject" Target="../embeddings/oleObject3.bin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tags" Target="../tags/tag45.xml"/><Relationship Id="rId3" Type="http://schemas.openxmlformats.org/officeDocument/2006/relationships/tags" Target="../tags/tag22.xml"/><Relationship Id="rId21" Type="http://schemas.openxmlformats.org/officeDocument/2006/relationships/tags" Target="../tags/tag40.xml"/><Relationship Id="rId34" Type="http://schemas.openxmlformats.org/officeDocument/2006/relationships/image" Target="../media/image9.png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tags" Target="../tags/tag44.xml"/><Relationship Id="rId33" Type="http://schemas.openxmlformats.org/officeDocument/2006/relationships/image" Target="../media/image8.png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tags" Target="../tags/tag39.xml"/><Relationship Id="rId29" Type="http://schemas.openxmlformats.org/officeDocument/2006/relationships/image" Target="../media/image1.emf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24" Type="http://schemas.openxmlformats.org/officeDocument/2006/relationships/tags" Target="../tags/tag43.xml"/><Relationship Id="rId32" Type="http://schemas.microsoft.com/office/2007/relationships/hdphoto" Target="../media/hdphoto2.wdp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tags" Target="../tags/tag42.xml"/><Relationship Id="rId28" Type="http://schemas.openxmlformats.org/officeDocument/2006/relationships/oleObject" Target="../embeddings/oleObject3.bin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31" Type="http://schemas.openxmlformats.org/officeDocument/2006/relationships/image" Target="../media/image7.png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tags" Target="../tags/tag41.xml"/><Relationship Id="rId27" Type="http://schemas.openxmlformats.org/officeDocument/2006/relationships/slideLayout" Target="../slideLayouts/slideLayout1.xml"/><Relationship Id="rId30" Type="http://schemas.openxmlformats.org/officeDocument/2006/relationships/image" Target="../media/image6.png"/><Relationship Id="rId8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5244963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2672298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8053832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764187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ctr" defTabSz="822960">
              <a:defRPr/>
            </a:pPr>
            <a:r>
              <a:rPr lang="en-US" sz="1200" kern="0">
                <a:solidFill>
                  <a:srgbClr val="FFFFFF"/>
                </a:solidFill>
                <a:latin typeface="Calibri"/>
              </a:rPr>
              <a:t>...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5244964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6928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363203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4.5GWh+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7,163 MT+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Green energy generated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Displaced CO</a:t>
              </a:r>
              <a:r>
                <a:rPr lang="en-GB" sz="1200" b="1" kern="0" baseline="-2500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2e</a:t>
              </a: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 equivalent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1.6 million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Avoided diesel equivalent (Litres)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2672298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cleantech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company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offering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businesses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households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modular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scalable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clean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,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reliable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energy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solutions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in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Africa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8053833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764187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ctr" defTabSz="822960">
              <a:defRPr/>
            </a:pPr>
            <a:r>
              <a:rPr lang="en-US" sz="1200" kern="0">
                <a:solidFill>
                  <a:srgbClr val="FFFFFF"/>
                </a:solidFill>
                <a:latin typeface="Calibri"/>
              </a:rPr>
              <a:t>...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5244964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5363203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80%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CO</a:t>
                </a:r>
                <a:r>
                  <a:rPr lang="en-GB" sz="1200" b="1" kern="0" baseline="-2500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</a:t>
                </a: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 emission reduction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 Million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CO</a:t>
                </a:r>
                <a:r>
                  <a:rPr lang="en-GB" sz="1200" b="1" kern="0" baseline="-2500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</a:t>
                </a: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 avoided 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2672298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spin-off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from the École Polytechnique Fédérale de Lausanne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selectively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converting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cellulose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&amp;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lignin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into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added-value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chemical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products 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in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/>
                <a:cs typeface="Calibri" panose="020F0502020204030204" pitchFamily="34" charset="0"/>
              </a:rPr>
              <a:t> US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8053833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764187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ct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ctr" defTabSz="822960" rtl="1">
              <a:defRPr/>
            </a:pPr>
            <a:r>
              <a:rPr lang="en-US" sz="1200" kern="0">
                <a:solidFill>
                  <a:srgbClr val="FFFFFF"/>
                </a:solidFill>
                <a:latin typeface="Calibri"/>
              </a:rPr>
              <a:t>...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5244964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5363203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250x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More efficient land use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Traceable and reliable supply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2672298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ct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proprietary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biomanufacturing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platform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producing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high-value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lipids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beauty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home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industries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8053833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ct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836928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1248818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8172918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12 Mn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8172918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7 Mn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22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8172918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USD 33.5 Mn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Rounds of investment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Opportunity Overview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Several companies were assessed on both their technological and financial achievements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4095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8188859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8128344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8184573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735579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804879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818885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ct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08678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827686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655699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99494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557381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17483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740478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6238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ct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1277909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57742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696775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ct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198739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3221545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ct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3081419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ct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387350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3058677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ct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3198739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5708678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ct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542260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542260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