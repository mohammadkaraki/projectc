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1219200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16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9875328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2880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262665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21043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10438616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3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"التوصية"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3299749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933217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7459104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8052849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ما يعادل انبعاثات ثاني أكسيد الكربون المشرَّدة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27432" rIns="27432" rtlCol="0" anchor="ctr" tIns="27432" bIns="27432">
              <a:norm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27432" rtlCol="0" anchor="ctr" wrap="square" lIns="27432" tIns="27432" bIns="27432">
              <a:normAutofit/>
            </a:bodyPr>
            <a:lstStyle/>
            <a:p>
              <a:pPr>
                <a:defRPr/>
              </a:pPr>
            </a:p>
            <a:p>
              <a:pPr algn="r"/>
              <a:r>
                <a:rPr b="1" sz="1080">
                  <a:solidFill>
                    <a:srgbClr val="000000"/>
                  </a:solidFill>
                  <a:latin typeface="Arial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CO2 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فرع تابع للمدرسة الفدرالية للبوليتكنيك في لوزان يحول السليلوز واللينين بانتقاء إلى منتجات كيميائية تضاف قيمة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7432" rIns="27432" rtlCol="0" anchor="ctr" wrap="square" lIns="27432" bIns="27432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08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٢٥٠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" rIns="27432" rtlCol="0" anchor="ctr" wrap="square" tIns="27432" bIns="27432">
            <a:norm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080">
                <a:solidFill>
                  <a:srgbClr val="000000"/>
                </a:solidFill>
                <a:latin typeface="Arial"/>
              </a:rPr>
              <a:t>منصة تصنيع حيوي مملوكة تنتج دهون عالية القيمة لصناعات الجمال والعناية الشخصية والعناية بالمنزل والغذاء"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27432" rIns="27432" rtlCol="0" anchor="ctr" tIns="27432" bIns="27432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27432" rtlCol="0" anchor="ctr" wrap="square" lIns="27432" tIns="27432" bIns="27432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080">
                    <a:solidFill>
                      <a:srgbClr val="000000"/>
                    </a:solidFill>
                    <a:latin typeface="Arial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27432" tIns="27432" rIns="27432" bIns="27432" rtlCol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26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27432" tIns="27432" rIns="27432" bIns="27432" anchor="ctr" wrap="square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52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استخلاص الانبعاثات الصعبة الحبس / تقدير الكربون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إزالة ثاني أكسيد الكربون (على سبيل المثال، غاز العادم)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تحويل ثاني أكسيد الكربون (التجفيف الحراري، التحليل المائي، التحليل الكهربائي، إلخ)، الاستخدام والتخزين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استخلاص الكربون</a:t>
            </a: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&amp; CCUS1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"4"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انبعاثات الغازات الدفيئة 2</a:t>
            </a: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والنفايات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تمكين التقنيات النظيفة للمداخل الصناعية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تقنية المياه / تقنية الزراعة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تقنيات المناخ الرقمي الأكثر ليونة وتمكين تقنيات البيانات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نماذج أعمال جديدة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المدخلات الصناعية_x000B_التقنيات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"3"</a:t>
            </a: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تقليل انبعاثات الصعوبة في الحد منها و/أو تجنبها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تحويل الصناعات لاستخدام الطاقة الخضراء وتسخينها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تخزين الطاقة طويلة المدى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الوقود الحيوي والوقود المستدام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تبديل الوقود</a:t>
            </a: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وتخزين الطاقة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"1"</a:t>
            </a: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توريد الطاقة</a:t>
            </a:r>
          </a:p>
          <a:p>
            <a:pPr algn="r"/>
            <a:r>
              <a:rPr b="1" i="1" sz="972">
                <a:solidFill>
                  <a:srgbClr val="031122"/>
                </a:solidFill>
                <a:latin typeface="Arial"/>
              </a:rPr>
              <a:t>وتخزينها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972">
                <a:solidFill>
                  <a:srgbClr val="000000"/>
                </a:solidFill>
                <a:latin typeface="Arial"/>
              </a:rPr>
              <a:t>تسهيل اقتصاد صناعي خالٍ من الكربون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كفاءة الطاقة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مواد جديدة/متقدمة</a:t>
            </a:r>
          </a:p>
          <a:p>
            <a:pPr algn="r"/>
            <a:r>
              <a:rPr sz="891">
                <a:solidFill>
                  <a:srgbClr val="000000"/>
                </a:solidFill>
                <a:latin typeface="Arial"/>
              </a:rPr>
              <a:t>تكنولوجيا تعالج التنظيمات والقيود الكربونية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 lIns="27432" rIns="27432" tIns="27432" bIns="27432">
            <a:normAutofit/>
          </a:bodyPr>
          <a:lstStyle/>
          <a:p>
            <a:pPr algn="r" defTabSz="822960">
              <a:defRPr/>
            </a:pPr>
          </a:p>
          <a:p>
            <a:pPr algn="r"/>
            <a:r>
              <a:rPr b="1" sz="1134">
                <a:solidFill>
                  <a:srgbClr val="FFFFFF"/>
                </a:solidFill>
                <a:latin typeface="Arial"/>
              </a:rPr>
              <a:t>حلول لتوفير تكاليف الصناعة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 lIns="27432" rIns="27432" tIns="27432" bIns="27432">
            <a:norm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972">
                <a:solidFill>
                  <a:srgbClr val="FFFFFF"/>
                </a:solidFill>
                <a:latin typeface="Arial"/>
              </a:rPr>
              <a:t>"2"</a:t>
            </a: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الطاقة</a:t>
            </a: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التحسين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27432" rIns="27432" rtlCol="0" anchor="ctr" wrap="square" tIns="27432" bIns="27432">
            <a:norm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972">
                <a:solidFill>
                  <a:srgbClr val="000000"/>
                </a:solidFill>
                <a:latin typeface="Arial"/>
              </a:rPr>
              <a:t>تحسين مدخلات الصناعة الأخرى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27432" tIns="27432" rIns="27432" bIns="27432" rtlCol="0" wrap="square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260">
                <a:solidFill>
                  <a:srgbClr val="000000"/>
                </a:solidFill>
                <a:latin typeface="Arial"/>
              </a:rPr>
              <a:t>نظرة عامة على دورة الحياة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27432" tIns="27432" rIns="27432" bIns="27432" anchor="ctr" wrap="square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520">
                <a:solidFill>
                  <a:srgbClr val="000000"/>
                </a:solidFill>
                <a:latin typeface="Arial"/>
              </a:rPr>
              <a:t>دورة حياة استهلاك الطاقة موزعة عبر 4 مراحل أساسية مختلفة</a:t>
            </a: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