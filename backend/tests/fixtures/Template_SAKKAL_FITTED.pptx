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1219200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88824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16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انقر لتحرير نمط العنوان الرئيسي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9875328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2880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262665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21043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10438616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"نظرة عامة"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3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التوصية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3299749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تأثير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933217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"المخاطر"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7459104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8052849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"تحليل"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7432" rIns="27432" rtlCol="0" anchor="ctr" wrap="square" lIns="27432" bIns="27432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080">
                <a:solidFill>
                  <a:srgbClr val="FFFFFF"/>
                </a:solidFill>
                <a:latin typeface="Sakkal Majalla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Sakkal Majalla"/>
                </a:rPr>
                <a:t>أكثر من 4.5 غيغاواط 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Sakkal Majalla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Sakkal Majalla"/>
                </a:rPr>
                <a:t>الطاقة الخضراء المولدة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Sakkal Majalla"/>
                </a:rPr>
                <a:t>"ثاني أكسيد الكربون المشرّد المعادل"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Sakkal Majalla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Sakkal Majalla"/>
                </a:rPr>
                <a:t>تجنب ما يعادل الديزل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080">
                <a:solidFill>
                  <a:srgbClr val="000000"/>
                </a:solidFill>
                <a:latin typeface="Sakkal Majalla"/>
              </a:rPr>
              <a:t>شركة تكنولوجيا نظيفة تقدم للشركات والأسر حلول طاقة نظيفة وموثوقة قابلة للتوسيع والتجميع في أفريقيا"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7432" rIns="27432" rtlCol="0" anchor="ctr" wrap="square" lIns="27432" bIns="27432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080">
                <a:solidFill>
                  <a:srgbClr val="FFFFFF"/>
                </a:solidFill>
                <a:latin typeface="Sakkal Majalla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Sakkal Majalla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Sakkal Majalla"/>
                  </a:rPr>
                  <a:t>تقليل انبعاثات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Sakkal Majalla"/>
                  </a:rPr>
                  <a:t>"3 مليون"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Sakkal Majalla"/>
                  </a:rPr>
                  <a:t>CO2 المُتَجَنَّب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080">
                <a:solidFill>
                  <a:srgbClr val="000000"/>
                </a:solidFill>
                <a:latin typeface="Sakkal Majalla"/>
              </a:rPr>
              <a:t>شركة فرعية من مدرسة بوليتكنيك فدرالية لوزان تحول انتقائيًا السليلوز والليغنين إلى منتجات كيميائية ذات قيمة مضافة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7432" rIns="27432" rtlCol="0" anchor="ctr" wrap="square" lIns="27432" bIns="27432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080">
                <a:solidFill>
                  <a:srgbClr val="FFFFFF"/>
                </a:solidFill>
                <a:latin typeface="Sakkal Majalla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Sakkal Majalla"/>
                  </a:rPr>
                  <a:t>250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Sakkal Majalla"/>
                  </a:rPr>
                  <a:t>استخدام أرض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Sakkal Majalla"/>
                  </a:rPr>
                  <a:t>"٪100"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Sakkal Majalla"/>
                  </a:rPr>
                  <a:t>إمداد قابل للتتبع وموثوق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080">
                <a:solidFill>
                  <a:srgbClr val="000000"/>
                </a:solidFill>
                <a:latin typeface="Sakkal Majalla"/>
              </a:rPr>
              <a:t>منصة تصنيع حيوي مملوكة تنتج دهون عالية القيمة لصناعات الجمال والعناية الشخصية والعناية بالمنزل والغذاء.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Sakkal Majalla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Sakkal Majalla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Sakkal Majalla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Sakkal Majalla"/>
                  </a:rPr>
                  <a:t>جولات الاستثمار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Sakkal Majalla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Sakkal Majalla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Sakkal Majalla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Sakkal Majalla"/>
                  </a:rPr>
                  <a:t>جولات استثمارية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Sakkal Majalla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Sakkal Majalla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Sakkal Majalla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Sakkal Majalla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rtlCol="0"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260">
                <a:solidFill>
                  <a:srgbClr val="000000"/>
                </a:solidFill>
                <a:latin typeface="Sakkal Majalla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anchor="ctr" wrap="square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520">
                <a:solidFill>
                  <a:srgbClr val="000000"/>
                </a:solidFill>
                <a:latin typeface="Sakkal Majalla"/>
              </a:rPr>
              <a:t>تم تقييم عدة شركات بناءً على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972">
                <a:solidFill>
                  <a:srgbClr val="000000"/>
                </a:solidFill>
                <a:latin typeface="Sakkal Majalla"/>
              </a:rPr>
              <a:t>استيلاء على الانبعاثات الصعبة الحبس / تحويل الكربون</a:t>
            </a:r>
          </a:p>
          <a:p>
            <a:pPr algn="r"/>
            <a:r>
              <a:rPr sz="891">
                <a:solidFill>
                  <a:srgbClr val="000000"/>
                </a:solidFill>
                <a:latin typeface="Sakkal Majalla"/>
              </a:rPr>
              <a:t>إزالة ثاني أكسيد الكربون (على سبيل المثال، غاز العادم)</a:t>
            </a:r>
          </a:p>
          <a:p>
            <a:pPr algn="r"/>
            <a:r>
              <a:rPr sz="891">
                <a:solidFill>
                  <a:srgbClr val="000000"/>
                </a:solidFill>
                <a:latin typeface="Sakkal Majalla"/>
              </a:rPr>
              <a:t>تحويل ثاني أكسيد الكربون (التكسير الحراري، التحليل الكيميائي، التحليل الكهربائي، إلخ)، الاستخدام والتخزين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1134">
                <a:solidFill>
                  <a:srgbClr val="FFFFFF"/>
                </a:solidFill>
                <a:latin typeface="Sakkal Majalla"/>
              </a:rPr>
              <a:t>استخلاص الكربون</a:t>
            </a:r>
          </a:p>
          <a:p>
            <a:pPr algn="r"/>
            <a:r>
              <a:rPr b="1" sz="1134">
                <a:solidFill>
                  <a:srgbClr val="FFFFFF"/>
                </a:solidFill>
                <a:latin typeface="Sakkal Majalla"/>
              </a:rPr>
              <a:t>&amp; CCUS1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</a:p>
          <a:p>
            <a:pPr algn="r"/>
            <a:r>
              <a:rPr b="1" sz="972">
                <a:solidFill>
                  <a:srgbClr val="FFFFFF"/>
                </a:solidFill>
                <a:latin typeface="Sakkal Majalla"/>
              </a:rPr>
              <a:t>"4"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27432" rIns="27432" rtlCol="0" anchor="ctr" wrap="square" tIns="27432" bIns="27432">
            <a:normAutofit/>
          </a:bodyPr>
          <a:lstStyle/>
          <a:p>
            <a:pPr algn="r" defTabSz="822960">
              <a:buClr>
                <a:srgbClr val="00E6A0"/>
              </a:buClr>
              <a:defRPr/>
            </a:pPr>
          </a:p>
          <a:p>
            <a:pPr algn="r"/>
            <a:r>
              <a:rPr b="1" i="1" sz="972">
                <a:solidFill>
                  <a:srgbClr val="031122"/>
                </a:solidFill>
                <a:latin typeface="Sakkal Majalla"/>
              </a:rPr>
              <a:t>انبعاثات غازات الدفيئة 2</a:t>
            </a:r>
          </a:p>
          <a:p>
            <a:pPr algn="r"/>
            <a:r>
              <a:rPr b="1" i="1" sz="972">
                <a:solidFill>
                  <a:srgbClr val="031122"/>
                </a:solidFill>
                <a:latin typeface="Sakkal Majalla"/>
              </a:rPr>
              <a:t>والنفايات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972">
                <a:solidFill>
                  <a:srgbClr val="000000"/>
                </a:solidFill>
                <a:latin typeface="Sakkal Majalla"/>
              </a:rPr>
              <a:t>تمكين التقنيات النظيفة للمداخل الصناعية</a:t>
            </a:r>
          </a:p>
          <a:p>
            <a:pPr algn="r"/>
            <a:r>
              <a:rPr sz="891">
                <a:solidFill>
                  <a:srgbClr val="000000"/>
                </a:solidFill>
                <a:latin typeface="Sakkal Majalla"/>
              </a:rPr>
              <a:t>تقنية المياه / تقنية الزراعة</a:t>
            </a:r>
          </a:p>
          <a:p>
            <a:pPr algn="r"/>
            <a:r>
              <a:rPr sz="891">
                <a:solidFill>
                  <a:srgbClr val="000000"/>
                </a:solidFill>
                <a:latin typeface="Sakkal Majalla"/>
              </a:rPr>
              <a:t>تقنيات المناخ الرقمي الأكثر ليونة وتمكين تقنيات البيانات</a:t>
            </a:r>
          </a:p>
          <a:p>
            <a:pPr algn="r"/>
            <a:r>
              <a:rPr sz="891">
                <a:solidFill>
                  <a:srgbClr val="000000"/>
                </a:solidFill>
                <a:latin typeface="Sakkal Majalla"/>
              </a:rPr>
              <a:t>نماذج أعمال جديدة</a:t>
            </a: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</a:p>
          <a:p>
            <a:pPr algn="r"/>
            <a:r>
              <a:rPr b="1" sz="1134">
                <a:solidFill>
                  <a:srgbClr val="FFFFFF"/>
                </a:solidFill>
                <a:latin typeface="Sakkal Majalla"/>
              </a:rPr>
              <a:t>المدخلات الصناعية_x000B_التقنيات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  <a:p>
            <a:pPr algn="r"/>
            <a:r>
              <a:rPr b="1" sz="972">
                <a:solidFill>
                  <a:srgbClr val="FFFFFF"/>
                </a:solidFill>
                <a:latin typeface="Sakkal Majalla"/>
              </a:rPr>
              <a:t>"3"</a:t>
            </a: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972">
                <a:solidFill>
                  <a:srgbClr val="000000"/>
                </a:solidFill>
                <a:latin typeface="Sakkal Majalla"/>
              </a:rPr>
              <a:t>تقليل انبعاثات الصعوبة في الحد منها و/أو تجنبها</a:t>
            </a:r>
          </a:p>
          <a:p>
            <a:pPr algn="r"/>
            <a:r>
              <a:rPr sz="891">
                <a:solidFill>
                  <a:srgbClr val="000000"/>
                </a:solidFill>
                <a:latin typeface="Sakkal Majalla"/>
              </a:rPr>
              <a:t>تحويل الصناعات لاستخدام الطاقة النظيفة في الطاقة والحرارة</a:t>
            </a:r>
          </a:p>
          <a:p>
            <a:pPr algn="r"/>
            <a:r>
              <a:rPr sz="891">
                <a:solidFill>
                  <a:srgbClr val="000000"/>
                </a:solidFill>
                <a:latin typeface="Sakkal Majalla"/>
              </a:rPr>
              <a:t>تخزين الطاقة طويل المدى</a:t>
            </a:r>
          </a:p>
          <a:p>
            <a:pPr algn="r"/>
            <a:r>
              <a:rPr sz="891">
                <a:solidFill>
                  <a:srgbClr val="000000"/>
                </a:solidFill>
                <a:latin typeface="Sakkal Majalla"/>
              </a:rPr>
              <a:t>الوقود الحيوي والوقود المستدام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1134">
                <a:solidFill>
                  <a:srgbClr val="FFFFFF"/>
                </a:solidFill>
                <a:latin typeface="Sakkal Majalla"/>
              </a:rPr>
              <a:t>تبديل الوقود</a:t>
            </a:r>
          </a:p>
          <a:p>
            <a:pPr algn="r"/>
            <a:r>
              <a:rPr b="1" sz="1134">
                <a:solidFill>
                  <a:srgbClr val="FFFFFF"/>
                </a:solidFill>
                <a:latin typeface="Sakkal Majalla"/>
              </a:rPr>
              <a:t>وتخزين الطاقة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  <a:p>
            <a:pPr algn="r"/>
            <a:r>
              <a:rPr b="1" sz="972">
                <a:solidFill>
                  <a:srgbClr val="FFFFFF"/>
                </a:solidFill>
                <a:latin typeface="Sakkal Majalla"/>
              </a:rPr>
              <a:t>"1"</a:t>
            </a: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27432" rIns="27432" rtlCol="0" anchor="ctr" wrap="square" tIns="27432" bIns="27432">
            <a:normAutofit/>
          </a:bodyPr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</a:p>
          <a:p>
            <a:pPr algn="r"/>
            <a:r>
              <a:rPr b="1" i="1" sz="972">
                <a:solidFill>
                  <a:srgbClr val="031122"/>
                </a:solidFill>
                <a:latin typeface="Sakkal Majalla"/>
              </a:rPr>
              <a:t>توريد الطاقة</a:t>
            </a:r>
          </a:p>
          <a:p>
            <a:pPr algn="r"/>
            <a:r>
              <a:rPr b="1" i="1" sz="972">
                <a:solidFill>
                  <a:srgbClr val="031122"/>
                </a:solidFill>
                <a:latin typeface="Sakkal Majalla"/>
              </a:rPr>
              <a:t>وتخزينها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972">
                <a:solidFill>
                  <a:srgbClr val="000000"/>
                </a:solidFill>
                <a:latin typeface="Sakkal Majalla"/>
              </a:rPr>
              <a:t>تسهيل اقتصاد صناعي خالٍ من الكربون</a:t>
            </a:r>
          </a:p>
          <a:p>
            <a:pPr algn="r"/>
            <a:r>
              <a:rPr sz="891">
                <a:solidFill>
                  <a:srgbClr val="000000"/>
                </a:solidFill>
                <a:latin typeface="Sakkal Majalla"/>
              </a:rPr>
              <a:t>كفاءة الطاقة</a:t>
            </a:r>
          </a:p>
          <a:p>
            <a:pPr algn="r"/>
            <a:r>
              <a:rPr sz="891">
                <a:solidFill>
                  <a:srgbClr val="000000"/>
                </a:solidFill>
                <a:latin typeface="Sakkal Majalla"/>
              </a:rPr>
              <a:t>مواد جديدة/متقدمة</a:t>
            </a:r>
          </a:p>
          <a:p>
            <a:pPr algn="r"/>
            <a:r>
              <a:rPr sz="891">
                <a:solidFill>
                  <a:srgbClr val="000000"/>
                </a:solidFill>
                <a:latin typeface="Sakkal Majalla"/>
              </a:rPr>
              <a:t>تكنولوجيا تعالج التنظيمات والقيود الكربونية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</a:p>
          <a:p>
            <a:pPr algn="r"/>
            <a:r>
              <a:rPr b="1" sz="1134">
                <a:solidFill>
                  <a:srgbClr val="FFFFFF"/>
                </a:solidFill>
                <a:latin typeface="Sakkal Majalla"/>
              </a:rPr>
              <a:t>حلول لتوفير تكاليف الصناعة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  <a:p>
            <a:pPr algn="r"/>
            <a:r>
              <a:rPr b="1" sz="972">
                <a:solidFill>
                  <a:srgbClr val="FFFFFF"/>
                </a:solidFill>
                <a:latin typeface="Sakkal Majalla"/>
              </a:rPr>
              <a:t>"2"</a:t>
            </a: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27432" rIns="27432" rtlCol="0" anchor="ctr" wrap="square" tIns="27432" bIns="27432">
            <a:normAutofit/>
          </a:bodyPr>
          <a:lstStyle/>
          <a:p>
            <a:pPr algn="r" defTabSz="822960">
              <a:buClr>
                <a:srgbClr val="00E6A0"/>
              </a:buClr>
              <a:defRPr/>
            </a:pPr>
          </a:p>
          <a:p>
            <a:pPr algn="r"/>
            <a:r>
              <a:rPr b="1" i="1" sz="972">
                <a:solidFill>
                  <a:srgbClr val="000000"/>
                </a:solidFill>
                <a:latin typeface="Sakkal Majalla"/>
              </a:rPr>
              <a:t>الطاقة</a:t>
            </a:r>
          </a:p>
          <a:p>
            <a:pPr algn="r"/>
            <a:r>
              <a:rPr b="1" i="1" sz="972">
                <a:solidFill>
                  <a:srgbClr val="000000"/>
                </a:solidFill>
                <a:latin typeface="Sakkal Majalla"/>
              </a:rPr>
              <a:t>التحسين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rtlCol="0" anchor="ctr" wrap="square">
            <a:spAutoFit/>
          </a:bodyPr>
          <a:lstStyle/>
          <a:p>
            <a:pPr algn="r" defTabSz="822960">
              <a:buClr>
                <a:srgbClr val="00E6A0"/>
              </a:buClr>
              <a:defRPr/>
            </a:pPr>
          </a:p>
          <a:p>
            <a:pPr algn="r"/>
            <a:r>
              <a:rPr b="1" i="1" sz="972">
                <a:solidFill>
                  <a:srgbClr val="000000"/>
                </a:solidFill>
                <a:latin typeface="Sakkal Majalla"/>
              </a:rPr>
              <a:t>تحسين مدخلات صناعية أخرى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rtlCol="0"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260">
                <a:solidFill>
                  <a:srgbClr val="000000"/>
                </a:solidFill>
                <a:latin typeface="Sakkal Majalla"/>
              </a:rPr>
              <a:t>نظرة عامة على دورة الحياة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anchor="ctr" wrap="square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520">
                <a:solidFill>
                  <a:srgbClr val="000000"/>
                </a:solidFill>
                <a:latin typeface="Sakkal Majalla"/>
              </a:rPr>
              <a:t>دورة حياة استهلاك الطاقة موزعة عبر 4 مراحل أساسية مختلفة</a:t>
            </a: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