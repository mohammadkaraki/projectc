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image" Target="../media/image1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8" name="Rounded Rectangle 12"/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/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/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/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  <a:endParaRPr lang="en-US" sz="1400" b="1" kern="0" dirty="0">
              <a:solidFill>
                <a:srgbClr val="386490"/>
              </a:solidFill>
              <a:latin typeface="Arial" panose="020B0604020202020204"/>
            </a:endParaRPr>
          </a:p>
        </p:txBody>
      </p:sp>
      <p:sp>
        <p:nvSpPr>
          <p:cNvPr id="53" name="TextBox 52"/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  <a:endParaRPr lang="en-US" sz="1400" b="1" kern="0">
              <a:solidFill>
                <a:srgbClr val="BBC0C9"/>
              </a:solidFill>
              <a:latin typeface="Arial" panose="020B0604020202020204"/>
            </a:endParaRPr>
          </a:p>
        </p:txBody>
      </p:sp>
      <p:sp>
        <p:nvSpPr>
          <p:cNvPr id="54" name="TextBox 53"/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  <a:endParaRPr lang="en-US" sz="1400" b="1" kern="0">
              <a:solidFill>
                <a:srgbClr val="BBC0C9"/>
              </a:solidFill>
              <a:latin typeface="Arial" panose="020B0604020202020204"/>
            </a:endParaRPr>
          </a:p>
        </p:txBody>
      </p:sp>
      <p:sp>
        <p:nvSpPr>
          <p:cNvPr id="55" name="TextBox 54"/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  <a:endParaRPr lang="en-US" sz="1400" b="1" kern="0">
              <a:solidFill>
                <a:srgbClr val="BBC0C9"/>
              </a:solidFill>
              <a:latin typeface="Arial" panose="020B0604020202020204"/>
            </a:endParaRPr>
          </a:p>
        </p:txBody>
      </p:sp>
      <p:sp>
        <p:nvSpPr>
          <p:cNvPr id="56" name="Rounded Rectangle 28"/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  <a:endParaRPr lang="en-US" sz="1400" b="1" kern="0">
              <a:solidFill>
                <a:srgbClr val="BBC0C9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/>
          <p:cNvCxnSpPr/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/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microsoft.com/office/2007/relationships/hdphoto" Target="../media/image4.wdp"/><Relationship Id="rId7" Type="http://schemas.openxmlformats.org/officeDocument/2006/relationships/image" Target="../media/image3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1.emf"/><Relationship Id="rId25" Type="http://schemas.openxmlformats.org/officeDocument/2006/relationships/vmlDrawing" Target="../drawings/vmlDrawing3.v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6.png"/><Relationship Id="rId22" Type="http://schemas.openxmlformats.org/officeDocument/2006/relationships/tags" Target="../tags/tag19.xml"/><Relationship Id="rId21" Type="http://schemas.openxmlformats.org/officeDocument/2006/relationships/image" Target="../media/image5.png"/><Relationship Id="rId20" Type="http://schemas.openxmlformats.org/officeDocument/2006/relationships/tags" Target="../tags/tag18.xml"/><Relationship Id="rId2" Type="http://schemas.openxmlformats.org/officeDocument/2006/relationships/oleObject" Target="../embeddings/oleObject3.bin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5" Type="http://schemas.openxmlformats.org/officeDocument/2006/relationships/vmlDrawing" Target="../drawings/vmlDrawing4.v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45.xml"/><Relationship Id="rId32" Type="http://schemas.openxmlformats.org/officeDocument/2006/relationships/tags" Target="../tags/tag44.xml"/><Relationship Id="rId31" Type="http://schemas.openxmlformats.org/officeDocument/2006/relationships/tags" Target="../tags/tag43.xml"/><Relationship Id="rId30" Type="http://schemas.openxmlformats.org/officeDocument/2006/relationships/image" Target="../media/image11.png"/><Relationship Id="rId3" Type="http://schemas.openxmlformats.org/officeDocument/2006/relationships/image" Target="../media/image1.emf"/><Relationship Id="rId29" Type="http://schemas.openxmlformats.org/officeDocument/2006/relationships/tags" Target="../tags/tag42.xml"/><Relationship Id="rId28" Type="http://schemas.openxmlformats.org/officeDocument/2006/relationships/tags" Target="../tags/tag41.xml"/><Relationship Id="rId27" Type="http://schemas.openxmlformats.org/officeDocument/2006/relationships/tags" Target="../tags/tag40.xml"/><Relationship Id="rId26" Type="http://schemas.openxmlformats.org/officeDocument/2006/relationships/tags" Target="../tags/tag39.xml"/><Relationship Id="rId25" Type="http://schemas.openxmlformats.org/officeDocument/2006/relationships/tags" Target="../tags/tag38.xml"/><Relationship Id="rId24" Type="http://schemas.openxmlformats.org/officeDocument/2006/relationships/tags" Target="../tags/tag37.xml"/><Relationship Id="rId23" Type="http://schemas.openxmlformats.org/officeDocument/2006/relationships/image" Target="../media/image10.png"/><Relationship Id="rId22" Type="http://schemas.openxmlformats.org/officeDocument/2006/relationships/tags" Target="../tags/tag36.xml"/><Relationship Id="rId21" Type="http://schemas.openxmlformats.org/officeDocument/2006/relationships/tags" Target="../tags/tag35.xml"/><Relationship Id="rId20" Type="http://schemas.openxmlformats.org/officeDocument/2006/relationships/tags" Target="../tags/tag34.xml"/><Relationship Id="rId2" Type="http://schemas.openxmlformats.org/officeDocument/2006/relationships/oleObject" Target="../embeddings/oleObject4.bin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microsoft.com/office/2007/relationships/hdphoto" Target="../media/image9.wdp"/><Relationship Id="rId16" Type="http://schemas.openxmlformats.org/officeDocument/2006/relationships/image" Target="../media/image8.png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Slide" r:id="rId2" imgW="5715" imgH="5715" progId="TCLayout.ActiveDocument.1">
                  <p:embed/>
                </p:oleObj>
              </mc:Choice>
              <mc:Fallback>
                <p:oleObj name="think-cell Slide" r:id="rId2" imgW="5715" imgH="571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188824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/>
          <p:cNvCxnSpPr/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/>
          <p:cNvCxnSpPr/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/>
          <p:cNvSpPr/>
          <p:nvPr>
            <p:custDataLst>
              <p:tags r:id="rId4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 panose="020F0502020204030204"/>
            </a:endParaRPr>
          </a:p>
          <a:p>
            <a:pPr algn="r" rtl="1"/>
            <a:r>
              <a:rPr sz="1200">
                <a:solidFill>
                  <a:srgbClr val="FFFFFF"/>
                </a:solidFill>
                <a:latin typeface="Calibri" panose="020F0502020204030204"/>
              </a:rPr>
              <a:t>المتطلبات:</a:t>
            </a:r>
            <a:endParaRPr sz="12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3" name="Rectangle 72"/>
          <p:cNvSpPr/>
          <p:nvPr>
            <p:custDataLst>
              <p:tags r:id="rId5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74" name="Picture 7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biLevel thresh="2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/>
          <p:cNvGrpSpPr/>
          <p:nvPr>
            <p:custDataLst>
              <p:tags r:id="rId9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/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 rtl="1"/>
              <a:r>
                <a:rPr sz="1200" b="1">
                  <a:solidFill>
                    <a:srgbClr val="CCCECE"/>
                  </a:solidFill>
                  <a:latin typeface="Calibri" panose="020F0502020204030204"/>
                </a:rPr>
                <a:t>أكثر من 4.5 غيغاواط-ساعة</a:t>
              </a:r>
              <a:endParaRPr sz="1200" b="1">
                <a:solidFill>
                  <a:srgbClr val="CCCECE"/>
                </a:solidFill>
                <a:latin typeface="Calibri" panose="020F0502020204030204"/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 rtl="1"/>
              <a:r>
                <a:rPr sz="1200" b="1">
                  <a:solidFill>
                    <a:srgbClr val="CCCECE"/>
                  </a:solidFill>
                  <a:latin typeface="Calibri" panose="020F0502020204030204"/>
                </a:rPr>
                <a:t>7,163 طن+</a:t>
              </a:r>
              <a:endParaRPr sz="1200" b="1">
                <a:solidFill>
                  <a:srgbClr val="CCCECE"/>
                </a:solidFill>
                <a:latin typeface="Calibri" panose="020F0502020204030204"/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 rtl="1"/>
              <a:r>
                <a:rPr sz="1200" b="1">
                  <a:solidFill>
                    <a:srgbClr val="CCCECE"/>
                  </a:solidFill>
                  <a:latin typeface="Calibri" panose="020F0502020204030204"/>
                </a:rPr>
                <a:t>الطاقة الخضراء المولّدة</a:t>
              </a:r>
              <a:endParaRPr sz="1200" b="1">
                <a:solidFill>
                  <a:srgbClr val="CCCECE"/>
                </a:solidFill>
                <a:latin typeface="Calibri" panose="020F0502020204030204"/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 rtl="1"/>
              <a:r>
                <a:rPr sz="1200" b="1">
                  <a:solidFill>
                    <a:srgbClr val="CCCECE"/>
                  </a:solidFill>
                  <a:latin typeface="Calibri" panose="020F0502020204030204"/>
                </a:rPr>
                <a:t>"ثاني أكسيد الكربون المشرّد المعادل"</a:t>
              </a:r>
              <a:endParaRPr sz="1200" b="1">
                <a:solidFill>
                  <a:srgbClr val="CCCECE"/>
                </a:solidFill>
                <a:latin typeface="Calibri" panose="020F0502020204030204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 rtl="1"/>
              <a:r>
                <a:rPr sz="1200" b="1">
                  <a:solidFill>
                    <a:srgbClr val="CCCECE"/>
                  </a:solidFill>
                  <a:latin typeface="Calibri" panose="020F0502020204030204"/>
                </a:rPr>
                <a:t>1.6 مليون</a:t>
              </a:r>
              <a:endParaRPr sz="1200" b="1">
                <a:solidFill>
                  <a:srgbClr val="CCCECE"/>
                </a:solidFill>
                <a:latin typeface="Calibri" panose="020F0502020204030204"/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 rtl="1"/>
              <a:r>
                <a:rPr sz="1200" b="1">
                  <a:solidFill>
                    <a:srgbClr val="CCCECE"/>
                  </a:solidFill>
                  <a:latin typeface="Calibri" panose="020F0502020204030204"/>
                </a:rPr>
                <a:t>تجنب ما يعادل الديزل (لتر)</a:t>
              </a:r>
              <a:endParaRPr sz="1200" b="1">
                <a:solidFill>
                  <a:srgbClr val="CCCECE"/>
                </a:solidFill>
                <a:latin typeface="Calibri" panose="020F0502020204030204"/>
              </a:endParaRPr>
            </a:p>
          </p:txBody>
        </p:sp>
      </p:grpSp>
      <p:sp>
        <p:nvSpPr>
          <p:cNvPr id="82" name="Rectangle 81"/>
          <p:cNvSpPr/>
          <p:nvPr>
            <p:custDataLst>
              <p:tags r:id="rId10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 rtl="1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/>
              <a:cs typeface="Calibri" panose="020F0502020204030204" pitchFamily="34" charset="0"/>
            </a:endParaRPr>
          </a:p>
          <a:p>
            <a:pPr algn="r" rtl="1"/>
            <a:r>
              <a:rPr sz="1200">
                <a:solidFill>
                  <a:srgbClr val="CCCECE"/>
                </a:solidFill>
                <a:latin typeface="Calibri" panose="020F0502020204030204"/>
              </a:rPr>
              <a:t>شركة تقنيات نظيفة تقدم للشركات والأسر حلول طاقة نظيفة وموثوقة، قابلة للتوسيع والتجميع في أفريقيا.</a:t>
            </a:r>
            <a:endParaRPr sz="1200">
              <a:solidFill>
                <a:srgbClr val="CCCECE"/>
              </a:solidFill>
              <a:latin typeface="Calibri" panose="020F0502020204030204"/>
            </a:endParaRPr>
          </a:p>
        </p:txBody>
      </p:sp>
      <p:sp>
        <p:nvSpPr>
          <p:cNvPr id="83" name="Rectangle 82"/>
          <p:cNvSpPr/>
          <p:nvPr>
            <p:custDataLst>
              <p:tags r:id="rId11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4" name="Rectangle 83"/>
          <p:cNvSpPr/>
          <p:nvPr>
            <p:custDataLst>
              <p:tags r:id="rId12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 panose="020F0502020204030204"/>
            </a:endParaRPr>
          </a:p>
          <a:p>
            <a:pPr algn="r" rtl="1"/>
            <a:r>
              <a:rPr sz="1200">
                <a:solidFill>
                  <a:srgbClr val="FFFFFF"/>
                </a:solidFill>
                <a:latin typeface="Calibri" panose="020F0502020204030204"/>
              </a:rPr>
              <a:t>المتطلبات:</a:t>
            </a:r>
            <a:endParaRPr sz="12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5" name="Rectangle 84"/>
          <p:cNvSpPr/>
          <p:nvPr>
            <p:custDataLst>
              <p:tags r:id="rId13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/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/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"80%"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تقليل انبعاثات ثاني أكسيد الكربون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/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3 مليون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CO2 تجنب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93" name="Rectangle 92"/>
          <p:cNvSpPr/>
          <p:nvPr>
            <p:custDataLst>
              <p:tags r:id="rId14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 rtl="1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/>
              <a:cs typeface="Calibri" panose="020F0502020204030204" pitchFamily="34" charset="0"/>
            </a:endParaRPr>
          </a:p>
          <a:p>
            <a:pPr algn="r" rtl="1"/>
            <a:r>
              <a:rPr sz="1200">
                <a:solidFill>
                  <a:srgbClr val="CCCECE"/>
                </a:solidFill>
                <a:latin typeface="Calibri" panose="020F0502020204030204"/>
              </a:rPr>
              <a:t>شركة فرعية تنشأ من مدرسة بوليتكنيك لوزان الفدرالية تحول السليلوز واللينين انتقائيًا إلى منتجات كيميائية ذات قيمة مضافة في الولايات المتحدة.</a:t>
            </a:r>
            <a:endParaRPr sz="1200">
              <a:solidFill>
                <a:srgbClr val="CCCECE"/>
              </a:solidFill>
              <a:latin typeface="Calibri" panose="020F0502020204030204"/>
            </a:endParaRPr>
          </a:p>
        </p:txBody>
      </p:sp>
      <p:sp>
        <p:nvSpPr>
          <p:cNvPr id="94" name="Rectangle 93"/>
          <p:cNvSpPr/>
          <p:nvPr>
            <p:custDataLst>
              <p:tags r:id="rId15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5" name="Rectangle 94"/>
          <p:cNvSpPr/>
          <p:nvPr>
            <p:custDataLst>
              <p:tags r:id="rId16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 panose="020F0502020204030204"/>
            </a:endParaRPr>
          </a:p>
          <a:p>
            <a:pPr algn="r" rtl="1"/>
            <a:r>
              <a:rPr sz="1200">
                <a:solidFill>
                  <a:srgbClr val="FFFFFF"/>
                </a:solidFill>
                <a:latin typeface="Calibri" panose="020F0502020204030204"/>
              </a:rPr>
              <a:t>المتطلبات:</a:t>
            </a:r>
            <a:endParaRPr sz="12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" name="Rectangle 95"/>
          <p:cNvSpPr/>
          <p:nvPr>
            <p:custDataLst>
              <p:tags r:id="rId17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97" name="Group 96"/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/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/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250 مرة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استخدام أرض أكثر كفاءة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/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"٪100"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إمداد قابل للتتبع وموثوق به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04" name="Rectangle 103"/>
          <p:cNvSpPr/>
          <p:nvPr>
            <p:custDataLst>
              <p:tags r:id="rId18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 rtl="1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r>
              <a:rPr sz="1200">
                <a:solidFill>
                  <a:srgbClr val="CCCECE"/>
                </a:solidFill>
                <a:latin typeface="Calibri" panose="020F0502020204030204"/>
              </a:rPr>
              <a:t>منصة تصنيع حيوي مملوكة تنتج دهون عالية القيمة لصناعات الجمال والعناية الشخصية والعناية بالمنزل والغذاء"</a:t>
            </a:r>
            <a:endParaRPr sz="1200">
              <a:solidFill>
                <a:srgbClr val="CCCECE"/>
              </a:solidFill>
              <a:latin typeface="Calibri" panose="020F0502020204030204"/>
            </a:endParaRPr>
          </a:p>
        </p:txBody>
      </p:sp>
      <p:sp>
        <p:nvSpPr>
          <p:cNvPr id="105" name="Rectangle 104"/>
          <p:cNvSpPr/>
          <p:nvPr>
            <p:custDataLst>
              <p:tags r:id="rId19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6" name="Picture 10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>
            <p:custDataLst>
              <p:tags r:id="rId22"/>
            </p:custDataLst>
          </p:nvPr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>
            <a:fillRect/>
          </a:stretch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/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/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/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١٢ مليون دولار أمريكي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إجمالي الاستثمارات المجمعة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/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"3"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جولات الاستثمار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5" name="Group 114"/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/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/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7 مليون دولار أمريكي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الاستثمار الإجمالي المجمع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17" name="Group 116"/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/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"22"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جولات الاستثمار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22" name="Group 121"/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/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/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33.5 مليون دولار أمريكي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الاستثمار الإجمالي المجموع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24" name="Group 123"/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/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"8"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sz="1200" b="1">
                    <a:solidFill>
                      <a:srgbClr val="CCCECE"/>
                    </a:solidFill>
                    <a:latin typeface="Calibri" panose="020F0502020204030204"/>
                  </a:rPr>
                  <a:t>جولات الاستثمار</a:t>
                </a:r>
                <a:endParaRPr sz="1200" b="1">
                  <a:solidFill>
                    <a:srgbClr val="CCCEC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30" name="Text Placeholder 2"/>
          <p:cNvSpPr txBox="1"/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318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63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defRPr/>
            </a:pPr>
          </a:p>
          <a:p>
            <a:pPr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1" i="1" u="none">
                <a:solidFill>
                  <a:srgbClr val="000000"/>
                </a:solidFill>
                <a:latin typeface="Arial" panose="020B0604020202020204"/>
              </a:rPr>
              <a:t>نظرة عامة على الفرصة</a:t>
            </a:r>
            <a:endParaRPr sz="1400" b="1" i="1" u="non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2" name="Title 3"/>
          <p:cNvSpPr txBox="1"/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>
                <a:solidFill>
                  <a:srgbClr val="000000"/>
                </a:solidFill>
                <a:latin typeface="Arial" panose="020B0604020202020204"/>
              </a:rPr>
              <a:t>تم تقييم عدة شركات استنادًا إلى إنجازاتها التكنولوجية والمالية.</a:t>
            </a:r>
            <a:endParaRPr sz="2800" b="0" i="0" u="none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Slide" r:id="rId2" imgW="5715" imgH="5715" progId="TCLayout.ActiveDocument.1">
                  <p:embed/>
                </p:oleObj>
              </mc:Choice>
              <mc:Fallback>
                <p:oleObj name="think-cell Slide" r:id="rId2" imgW="5715" imgH="571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188824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/>
          <p:cNvSpPr/>
          <p:nvPr>
            <p:custDataLst>
              <p:tags r:id="rId4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 rtl="1">
              <a:defRPr/>
            </a:pPr>
            <a:endParaRPr lang="en-US" sz="1620" kern="0">
              <a:solidFill>
                <a:srgbClr val="000000"/>
              </a:solidFill>
              <a:latin typeface="Calibri" panose="020F0502020204030204"/>
              <a:cs typeface="Arial" panose="020B0604020202020204"/>
            </a:endParaRPr>
          </a:p>
        </p:txBody>
      </p:sp>
      <p:sp>
        <p:nvSpPr>
          <p:cNvPr id="28" name="Rectangle : coins arrondis 52"/>
          <p:cNvSpPr/>
          <p:nvPr>
            <p:custDataLst>
              <p:tags r:id="rId5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 panose="020F0502020204030204"/>
              <a:ea typeface="Inter Medium" panose="02000503000000020004" pitchFamily="2" charset="0"/>
              <a:cs typeface="Arial" panose="020B0604020202020204"/>
            </a:endParaRPr>
          </a:p>
        </p:txBody>
      </p:sp>
      <p:sp>
        <p:nvSpPr>
          <p:cNvPr id="29" name="TextBox 26"/>
          <p:cNvSpPr txBox="1"/>
          <p:nvPr>
            <p:custDataLst>
              <p:tags r:id="rId6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080" b="1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Hard-to-abate emission capture / carbon valorization</a:t>
            </a:r>
            <a:endParaRPr lang="en-US" sz="1080" b="1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algn="r" defTabSz="822960" rtl="1">
              <a:defRPr/>
            </a:pPr>
            <a:endParaRPr lang="en-US" sz="1080" b="1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marL="129540" indent="-129540" algn="r" defTabSz="822960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CO2 removal (e.g., flue gas)</a:t>
            </a:r>
            <a:endParaRPr lang="en-US" sz="990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marL="129540" indent="-129540" algn="r" defTabSz="822960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CO2 conversion (pyrolysis, hydrolysis, electrolysis, etc.), utilization and sequestration</a:t>
            </a:r>
            <a:endParaRPr lang="en-US" sz="990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</p:txBody>
      </p:sp>
      <p:sp>
        <p:nvSpPr>
          <p:cNvPr id="30" name="TextBox 26"/>
          <p:cNvSpPr txBox="1"/>
          <p:nvPr>
            <p:custDataLst>
              <p:tags r:id="rId7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260" b="1" kern="0">
                <a:solidFill>
                  <a:srgbClr val="FFFFFF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CARBON CAPTURE</a:t>
            </a:r>
            <a:endParaRPr lang="en-US" sz="1260" b="1" kern="0">
              <a:solidFill>
                <a:srgbClr val="FFFFFF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algn="r" defTabSz="822960" rtl="1">
              <a:defRPr/>
            </a:pPr>
            <a:r>
              <a:rPr lang="en-US" sz="1260" b="1" kern="0">
                <a:solidFill>
                  <a:srgbClr val="FFFFFF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1</a:t>
            </a:r>
            <a:endParaRPr lang="en-US" sz="1260" b="1" kern="0">
              <a:solidFill>
                <a:srgbClr val="FFFFFF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</p:txBody>
      </p:sp>
      <p:pic>
        <p:nvPicPr>
          <p:cNvPr id="31" name="Picture 3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/>
          <p:cNvSpPr/>
          <p:nvPr>
            <p:custDataLst>
              <p:tags r:id="rId10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 rtl="1">
              <a:defRPr/>
            </a:pPr>
            <a:r>
              <a:rPr lang="en-US" sz="1080" b="1" kern="0">
                <a:solidFill>
                  <a:srgbClr val="FFFFFF"/>
                </a:solidFill>
                <a:latin typeface="Calibri" panose="020F0502020204030204"/>
                <a:cs typeface="Arial" panose="020B0604020202020204"/>
              </a:rPr>
              <a:t>4</a:t>
            </a:r>
            <a:endParaRPr lang="en-US" sz="1080" b="1" kern="0">
              <a:solidFill>
                <a:srgbClr val="FFFFFF"/>
              </a:solidFill>
              <a:latin typeface="Calibri" panose="020F0502020204030204"/>
              <a:cs typeface="Arial" panose="020B0604020202020204"/>
            </a:endParaRPr>
          </a:p>
        </p:txBody>
      </p:sp>
      <p:sp>
        <p:nvSpPr>
          <p:cNvPr id="33" name="Rectangle : coins arrondis 52"/>
          <p:cNvSpPr/>
          <p:nvPr>
            <p:custDataLst>
              <p:tags r:id="rId11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 panose="020F0502020204030204"/>
                <a:cs typeface="Arial" panose="020B0604020202020204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 panose="020F0502020204030204"/>
                <a:cs typeface="Arial" panose="020B0604020202020204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 panose="020F0502020204030204"/>
                <a:cs typeface="Arial" panose="020B0604020202020204"/>
              </a:rPr>
              <a:t> </a:t>
            </a:r>
            <a:endParaRPr lang="en-GB" sz="1080" b="1" i="1" kern="0">
              <a:solidFill>
                <a:srgbClr val="031122"/>
              </a:solidFill>
              <a:latin typeface="Calibri" panose="020F0502020204030204"/>
              <a:cs typeface="Arial" panose="020B0604020202020204"/>
            </a:endParaRPr>
          </a:p>
          <a:p>
            <a:pPr algn="r" defTabSz="822960" rtl="1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 panose="020F0502020204030204"/>
                <a:cs typeface="Arial" panose="020B0604020202020204"/>
              </a:rPr>
              <a:t>&amp; WASTE</a:t>
            </a:r>
            <a:endParaRPr lang="en-GB" sz="1080" b="1" i="1" kern="0">
              <a:solidFill>
                <a:srgbClr val="031122"/>
              </a:solidFill>
              <a:latin typeface="Calibri" panose="020F0502020204030204"/>
              <a:cs typeface="Arial" panose="020B0604020202020204"/>
            </a:endParaRPr>
          </a:p>
        </p:txBody>
      </p:sp>
      <p:sp>
        <p:nvSpPr>
          <p:cNvPr id="34" name="Rectangle : coins arrondis 52"/>
          <p:cNvSpPr/>
          <p:nvPr>
            <p:custDataLst>
              <p:tags r:id="rId12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 panose="020F0502020204030204"/>
              <a:ea typeface="Inter Medium" panose="02000503000000020004" pitchFamily="2" charset="0"/>
              <a:cs typeface="Arial" panose="020B0604020202020204"/>
            </a:endParaRPr>
          </a:p>
        </p:txBody>
      </p:sp>
      <p:sp>
        <p:nvSpPr>
          <p:cNvPr id="35" name="TextBox 26"/>
          <p:cNvSpPr txBox="1"/>
          <p:nvPr>
            <p:custDataLst>
              <p:tags r:id="rId13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080" b="1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Enabling clean technologies for industrial inputs </a:t>
            </a:r>
            <a:endParaRPr lang="en-US" sz="1080" b="1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algn="r" defTabSz="822960" rtl="1">
              <a:defRPr/>
            </a:pPr>
            <a:endParaRPr lang="en-US" sz="1080" b="1">
              <a:solidFill>
                <a:srgbClr val="000000"/>
              </a:solidFill>
              <a:latin typeface="Calibri" panose="020F0502020204030204"/>
              <a:cs typeface="Arial" panose="020B0604020202020204"/>
            </a:endParaRPr>
          </a:p>
          <a:p>
            <a:pPr marL="129540" indent="-129540" algn="r" defTabSz="822960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Water tech / Agri tech</a:t>
            </a:r>
            <a:endParaRPr lang="en-US" sz="990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marL="129540" indent="-129540" algn="r" defTabSz="822960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Softer (digital) climate tech and enabling data technologies</a:t>
            </a:r>
            <a:endParaRPr lang="en-US" sz="990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marL="129540" indent="-129540" algn="r" defTabSz="822960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</p:txBody>
      </p:sp>
      <p:sp>
        <p:nvSpPr>
          <p:cNvPr id="36" name="TextBox 26"/>
          <p:cNvSpPr txBox="1"/>
          <p:nvPr>
            <p:custDataLst>
              <p:tags r:id="rId14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260" b="1" kern="0">
                <a:solidFill>
                  <a:srgbClr val="FFFFFF"/>
                </a:solidFill>
                <a:latin typeface="Calibri" panose="020F0502020204030204"/>
                <a:cs typeface="Arial" panose="020B0604020202020204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 panose="020F0502020204030204"/>
                <a:cs typeface="Arial" panose="020B0604020202020204"/>
              </a:rPr>
            </a:br>
            <a:r>
              <a:rPr lang="en-US" sz="1260" b="1" kern="0">
                <a:solidFill>
                  <a:srgbClr val="FFFFFF"/>
                </a:solidFill>
                <a:latin typeface="Calibri" panose="020F0502020204030204"/>
                <a:cs typeface="Arial" panose="020B0604020202020204"/>
              </a:rPr>
              <a:t>TECHNOLOGIES</a:t>
            </a:r>
            <a:endParaRPr lang="en-US" sz="1260" b="1" kern="0">
              <a:solidFill>
                <a:srgbClr val="FFFFFF"/>
              </a:solidFill>
              <a:latin typeface="Calibri" panose="020F0502020204030204"/>
              <a:cs typeface="Arial" panose="020B0604020202020204"/>
            </a:endParaRPr>
          </a:p>
        </p:txBody>
      </p:sp>
      <p:pic>
        <p:nvPicPr>
          <p:cNvPr id="37" name="Picture 3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biLevel thresh="2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contrast="-40000"/>
                    </a14:imgEffect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/>
          <p:cNvSpPr/>
          <p:nvPr>
            <p:custDataLst>
              <p:tags r:id="rId18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 rtl="1">
              <a:defRPr/>
            </a:pPr>
            <a:r>
              <a:rPr lang="fr-BE" sz="1080" b="1" kern="0">
                <a:solidFill>
                  <a:srgbClr val="FFFFFF"/>
                </a:solidFill>
                <a:latin typeface="Calibri" panose="020F0502020204030204"/>
                <a:cs typeface="Arial" panose="020B0604020202020204"/>
              </a:rPr>
              <a:t>3</a:t>
            </a:r>
            <a:endParaRPr lang="en-US" sz="1080" b="1" kern="0">
              <a:solidFill>
                <a:srgbClr val="FFFFFF"/>
              </a:solidFill>
              <a:latin typeface="Calibri" panose="020F0502020204030204"/>
              <a:cs typeface="Arial" panose="020B0604020202020204"/>
            </a:endParaRPr>
          </a:p>
        </p:txBody>
      </p:sp>
      <p:sp>
        <p:nvSpPr>
          <p:cNvPr id="39" name="Rectangle : coins arrondis 52"/>
          <p:cNvSpPr/>
          <p:nvPr>
            <p:custDataLst>
              <p:tags r:id="rId19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 panose="020F0502020204030204"/>
              <a:ea typeface="Inter Medium" panose="02000503000000020004" pitchFamily="2" charset="0"/>
              <a:cs typeface="Arial" panose="020B0604020202020204"/>
            </a:endParaRPr>
          </a:p>
        </p:txBody>
      </p:sp>
      <p:sp>
        <p:nvSpPr>
          <p:cNvPr id="40" name="TextBox 26"/>
          <p:cNvSpPr txBox="1"/>
          <p:nvPr>
            <p:custDataLst>
              <p:tags r:id="rId20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080" b="1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Hard-to-abate emission reduction and/or avoidance</a:t>
            </a:r>
            <a:endParaRPr lang="en-US" sz="1080" b="1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algn="r" defTabSz="822960" rtl="1">
              <a:defRPr/>
            </a:pPr>
            <a:endParaRPr lang="en-US" sz="1080" b="1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marL="129540" indent="-129540" algn="r" defTabSz="822960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Decarbonization of industrial power and heat</a:t>
            </a:r>
            <a:endParaRPr lang="en-US" sz="990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marL="129540" indent="-129540" algn="r" defTabSz="822960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Long Duration Energy Storage</a:t>
            </a:r>
            <a:endParaRPr lang="en-US" sz="990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marL="129540" indent="-129540" algn="r" defTabSz="822960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Biofuels and sustainable fuels</a:t>
            </a:r>
            <a:endParaRPr lang="en-US" sz="990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</p:txBody>
      </p:sp>
      <p:sp>
        <p:nvSpPr>
          <p:cNvPr id="41" name="TextBox 40"/>
          <p:cNvSpPr txBox="1"/>
          <p:nvPr>
            <p:custDataLst>
              <p:tags r:id="rId21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SWITCHING</a:t>
            </a:r>
            <a:endParaRPr lang="en-US" sz="1200" b="1" kern="0" dirty="0">
              <a:solidFill>
                <a:srgbClr val="FFFFFF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algn="r" defTabSz="822960" rtl="1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&amp; ENERGY STORAGE</a:t>
            </a:r>
            <a:endParaRPr lang="en-US" sz="1260" b="1" kern="0" dirty="0">
              <a:solidFill>
                <a:srgbClr val="FFFFFF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</p:txBody>
      </p:sp>
      <p:pic>
        <p:nvPicPr>
          <p:cNvPr id="42" name="Picture 41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/>
          <p:cNvSpPr/>
          <p:nvPr>
            <p:custDataLst>
              <p:tags r:id="rId24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 rtl="1">
              <a:defRPr/>
            </a:pPr>
            <a:r>
              <a:rPr lang="fr-BE" sz="1080" b="1" kern="0">
                <a:solidFill>
                  <a:srgbClr val="FFFFFF"/>
                </a:solidFill>
                <a:latin typeface="Calibri" panose="020F0502020204030204"/>
                <a:cs typeface="Arial" panose="020B0604020202020204"/>
              </a:rPr>
              <a:t>1 </a:t>
            </a:r>
            <a:endParaRPr lang="en-US" sz="1080" b="1" kern="0">
              <a:solidFill>
                <a:srgbClr val="FFFFFF"/>
              </a:solidFill>
              <a:latin typeface="Calibri" panose="020F0502020204030204"/>
              <a:cs typeface="Arial" panose="020B0604020202020204"/>
            </a:endParaRPr>
          </a:p>
        </p:txBody>
      </p:sp>
      <p:sp>
        <p:nvSpPr>
          <p:cNvPr id="44" name="Rectangle : coins arrondis 52"/>
          <p:cNvSpPr/>
          <p:nvPr>
            <p:custDataLst>
              <p:tags r:id="rId25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rtl="1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 panose="020F0502020204030204"/>
                <a:cs typeface="Arial" panose="020B0604020202020204"/>
              </a:rPr>
              <a:t>ENERGY SUPPLY </a:t>
            </a:r>
            <a:endParaRPr lang="en-GB" sz="1080" b="1" i="1" kern="0">
              <a:solidFill>
                <a:srgbClr val="031122"/>
              </a:solidFill>
              <a:latin typeface="Calibri" panose="020F0502020204030204"/>
              <a:cs typeface="Arial" panose="020B0604020202020204"/>
            </a:endParaRPr>
          </a:p>
          <a:p>
            <a:pPr algn="r" defTabSz="822960" rtl="1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 panose="020F0502020204030204"/>
                <a:cs typeface="Arial" panose="020B0604020202020204"/>
              </a:rPr>
              <a:t>&amp; STORAGE</a:t>
            </a:r>
            <a:endParaRPr lang="en-GB" sz="1080" b="1" i="1" kern="0">
              <a:solidFill>
                <a:srgbClr val="031122"/>
              </a:solidFill>
              <a:latin typeface="Calibri" panose="020F0502020204030204"/>
              <a:cs typeface="Arial" panose="020B0604020202020204"/>
            </a:endParaRPr>
          </a:p>
        </p:txBody>
      </p:sp>
      <p:sp>
        <p:nvSpPr>
          <p:cNvPr id="45" name="Rectangle : coins arrondis 52"/>
          <p:cNvSpPr/>
          <p:nvPr>
            <p:custDataLst>
              <p:tags r:id="rId26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 panose="020F0502020204030204"/>
              <a:ea typeface="Inter Medium" panose="02000503000000020004" pitchFamily="2" charset="0"/>
              <a:cs typeface="Arial" panose="020B0604020202020204"/>
            </a:endParaRPr>
          </a:p>
        </p:txBody>
      </p:sp>
      <p:sp>
        <p:nvSpPr>
          <p:cNvPr id="46" name="TextBox 26"/>
          <p:cNvSpPr txBox="1"/>
          <p:nvPr>
            <p:custDataLst>
              <p:tags r:id="rId27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080" b="1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Decarbonized industrial economy facilitation</a:t>
            </a:r>
            <a:endParaRPr lang="en-US" sz="1080" b="1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algn="r" defTabSz="822960" rtl="1">
              <a:defRPr/>
            </a:pPr>
            <a:endParaRPr lang="en-US" sz="1080" b="1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marL="129540" indent="-129540" algn="r" defTabSz="822960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Energy efficiency</a:t>
            </a:r>
            <a:endParaRPr lang="en-US" sz="990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marL="129540" indent="-129540" algn="r" defTabSz="822960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New/advanced materials</a:t>
            </a:r>
            <a:endParaRPr lang="en-US" sz="990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  <a:p>
            <a:pPr marL="129540" indent="-129540" algn="r" defTabSz="822960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Tech addressing carbon regulations and constraints</a:t>
            </a:r>
            <a:endParaRPr lang="en-US" sz="990">
              <a:solidFill>
                <a:srgbClr val="000000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</p:txBody>
      </p:sp>
      <p:sp>
        <p:nvSpPr>
          <p:cNvPr id="47" name="TextBox 26"/>
          <p:cNvSpPr txBox="1"/>
          <p:nvPr>
            <p:custDataLst>
              <p:tags r:id="rId28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260" b="1" kern="0">
                <a:solidFill>
                  <a:srgbClr val="FFFFFF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</a:br>
            <a:r>
              <a:rPr lang="en-US" sz="1260" b="1" kern="0">
                <a:solidFill>
                  <a:srgbClr val="FFFFFF"/>
                </a:solidFill>
                <a:latin typeface="Calibri" panose="020F0502020204030204"/>
                <a:ea typeface="Inter" panose="02000503000000020004" pitchFamily="2" charset="0"/>
                <a:cs typeface="Arial" panose="020B0604020202020204"/>
              </a:rPr>
              <a:t>SAVING SOLUTIONS</a:t>
            </a:r>
            <a:endParaRPr lang="en-US" sz="1260" b="1" kern="0">
              <a:solidFill>
                <a:srgbClr val="FFFFFF"/>
              </a:solidFill>
              <a:latin typeface="Calibri" panose="020F0502020204030204"/>
              <a:ea typeface="Inter" panose="02000503000000020004" pitchFamily="2" charset="0"/>
              <a:cs typeface="Arial" panose="020B0604020202020204"/>
            </a:endParaRPr>
          </a:p>
        </p:txBody>
      </p:sp>
      <p:pic>
        <p:nvPicPr>
          <p:cNvPr id="48" name="Picture 47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/>
          <p:cNvSpPr/>
          <p:nvPr>
            <p:custDataLst>
              <p:tags r:id="rId31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 rtl="1">
              <a:defRPr/>
            </a:pPr>
            <a:r>
              <a:rPr lang="fr-BE" sz="1080" b="1" kern="0">
                <a:solidFill>
                  <a:srgbClr val="FFFFFF"/>
                </a:solidFill>
                <a:latin typeface="Calibri" panose="020F0502020204030204"/>
                <a:cs typeface="Arial" panose="020B0604020202020204"/>
              </a:rPr>
              <a:t>2</a:t>
            </a:r>
            <a:endParaRPr lang="en-US" sz="1080" b="1" kern="0">
              <a:solidFill>
                <a:srgbClr val="FFFFFF"/>
              </a:solidFill>
              <a:latin typeface="Calibri" panose="020F0502020204030204"/>
              <a:cs typeface="Arial" panose="020B0604020202020204"/>
            </a:endParaRPr>
          </a:p>
        </p:txBody>
      </p:sp>
      <p:sp>
        <p:nvSpPr>
          <p:cNvPr id="50" name="Rectangle : coins arrondis 52"/>
          <p:cNvSpPr/>
          <p:nvPr>
            <p:custDataLst>
              <p:tags r:id="rId32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 panose="020F0502020204030204"/>
                <a:ea typeface="Inter Medium" panose="02000503000000020004" pitchFamily="2" charset="0"/>
                <a:cs typeface="Arial" panose="020B0604020202020204"/>
              </a:rPr>
              <a:t>ENERGY </a:t>
            </a:r>
            <a:endParaRPr lang="en-US" sz="1080" b="1" i="1" kern="0">
              <a:solidFill>
                <a:srgbClr val="000000"/>
              </a:solidFill>
              <a:latin typeface="Calibri" panose="020F0502020204030204"/>
              <a:ea typeface="Inter Medium" panose="02000503000000020004" pitchFamily="2" charset="0"/>
              <a:cs typeface="Arial" panose="020B0604020202020204"/>
            </a:endParaRPr>
          </a:p>
          <a:p>
            <a:pPr algn="r" defTabSz="822960" rtl="1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 panose="020F0502020204030204"/>
                <a:ea typeface="Inter Medium" panose="02000503000000020004" pitchFamily="2" charset="0"/>
                <a:cs typeface="Arial" panose="020B0604020202020204"/>
              </a:rPr>
              <a:t>OPTIMIZATION </a:t>
            </a:r>
            <a:endParaRPr lang="en-US" sz="1080" b="1" i="1" kern="0">
              <a:solidFill>
                <a:srgbClr val="000000"/>
              </a:solidFill>
              <a:latin typeface="Calibri" panose="020F0502020204030204"/>
              <a:ea typeface="Inter Medium" panose="02000503000000020004" pitchFamily="2" charset="0"/>
              <a:cs typeface="Arial" panose="020B0604020202020204"/>
            </a:endParaRPr>
          </a:p>
        </p:txBody>
      </p:sp>
      <p:sp>
        <p:nvSpPr>
          <p:cNvPr id="51" name="Rectangle : coins arrondis 52"/>
          <p:cNvSpPr/>
          <p:nvPr>
            <p:custDataLst>
              <p:tags r:id="rId33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 panose="020F0502020204030204"/>
                <a:ea typeface="Inter Medium" panose="02000503000000020004" pitchFamily="2" charset="0"/>
                <a:cs typeface="Arial" panose="020B0604020202020204"/>
              </a:rPr>
              <a:t>OTHER INDUSTRIAL INPUTS OPTIMIZATION</a:t>
            </a:r>
            <a:endParaRPr lang="en-US" sz="1080" b="1" i="1" kern="0">
              <a:solidFill>
                <a:srgbClr val="000000"/>
              </a:solidFill>
              <a:latin typeface="Calibri" panose="020F0502020204030204"/>
              <a:ea typeface="Inter Medium" panose="02000503000000020004" pitchFamily="2" charset="0"/>
              <a:cs typeface="Arial" panose="020B0604020202020204"/>
            </a:endParaRPr>
          </a:p>
        </p:txBody>
      </p:sp>
      <p:sp>
        <p:nvSpPr>
          <p:cNvPr id="54" name="Text Placeholder 2"/>
          <p:cNvSpPr txBox="1"/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318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63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L BAYAN PLAIN" pitchFamily="2" charset="-78"/>
            </a:endParaRPr>
          </a:p>
        </p:txBody>
      </p:sp>
      <p:sp>
        <p:nvSpPr>
          <p:cNvPr id="55" name="Title 3"/>
          <p:cNvSpPr txBox="1"/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p="http://schemas.openxmlformats.org/presentationml/2006/main">
  <p:tag name="THINKCELLSHAPEDONOTDELETE" val="thinkcellActiveDocDoNotDelete"/>
</p:tagLst>
</file>

<file path=ppt/tags/tag21.xml><?xml version="1.0" encoding="utf-8"?>
<p:tagLst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1838</Words>
  <Application>WPS Presentation</Application>
  <PresentationFormat>Widescreen</PresentationFormat>
  <Paragraphs>124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</vt:i4>
      </vt:variant>
    </vt:vector>
  </HeadingPairs>
  <TitlesOfParts>
    <vt:vector size="24" baseType="lpstr">
      <vt:lpstr>Arial</vt:lpstr>
      <vt:lpstr>SimSun</vt:lpstr>
      <vt:lpstr>Wingdings</vt:lpstr>
      <vt:lpstr>Book Antiqua</vt:lpstr>
      <vt:lpstr>Arial</vt:lpstr>
      <vt:lpstr>Calibri</vt:lpstr>
      <vt:lpstr>Calibri</vt:lpstr>
      <vt:lpstr>AL BAYAN PLAIN</vt:lpstr>
      <vt:lpstr>Segoe Print</vt:lpstr>
      <vt:lpstr>Inter Medium</vt:lpstr>
      <vt:lpstr>Inter</vt:lpstr>
      <vt:lpstr>Corbel</vt:lpstr>
      <vt:lpstr>Aptos</vt:lpstr>
      <vt:lpstr>Segoe UI</vt:lpstr>
      <vt:lpstr>Times New Roman</vt:lpstr>
      <vt:lpstr>Microsoft YaHei</vt:lpstr>
      <vt:lpstr>Arial Unicode MS</vt:lpstr>
      <vt:lpstr>Office Theme</vt:lpstr>
      <vt:lpstr>TCLayout.ActiveDocument.1</vt:lpstr>
      <vt:lpstr>TCLayout.ActiveDocument.1</vt:lpstr>
      <vt:lpstr>TCLayout.ActiveDocument.1</vt:lpstr>
      <vt:lpstr>TCLayout.ActiveDocument.1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Mohammad Karaki</cp:lastModifiedBy>
  <cp:revision>2</cp:revision>
  <dcterms:created xsi:type="dcterms:W3CDTF">2025-12-13T10:45:00Z</dcterms:created>
  <dcterms:modified xsi:type="dcterms:W3CDTF">2025-12-16T17:40:20Z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5C67AB719B9F4718AA124C6D7F8A1CD8_12</vt:lpwstr>
  </property>
  <property fmtid="{D5CDD505-2E9C-101B-9397-08002B2CF9AE}" pid="3" name="KSOProductBuildVer">
    <vt:lpwstr>1033-12.2.0.23155</vt:lpwstr>
  </property>
</Properties>
</file>