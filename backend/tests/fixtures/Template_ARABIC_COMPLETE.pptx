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259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208739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1187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745741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987363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772025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Overview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4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Recommendation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8130504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Impact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10596421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Risks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2624963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3218706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tags" Target="../tags/tag10.xml"/><Relationship Id="rId9" Type="http://schemas.openxmlformats.org/officeDocument/2006/relationships/tags" Target="../tags/tag11.xml"/><Relationship Id="rId10" Type="http://schemas.openxmlformats.org/officeDocument/2006/relationships/tags" Target="../tags/tag12.xml"/><Relationship Id="rId11" Type="http://schemas.openxmlformats.org/officeDocument/2006/relationships/tags" Target="../tags/tag13.xml"/><Relationship Id="rId12" Type="http://schemas.openxmlformats.org/officeDocument/2006/relationships/tags" Target="../tags/tag14.xml"/><Relationship Id="rId13" Type="http://schemas.openxmlformats.org/officeDocument/2006/relationships/tags" Target="../tags/tag15.xml"/><Relationship Id="rId14" Type="http://schemas.openxmlformats.org/officeDocument/2006/relationships/tags" Target="../tags/tag16.xml"/><Relationship Id="rId15" Type="http://schemas.openxmlformats.org/officeDocument/2006/relationships/tags" Target="../tags/tag17.xml"/><Relationship Id="rId16" Type="http://schemas.openxmlformats.org/officeDocument/2006/relationships/tags" Target="../tags/tag18.xml"/><Relationship Id="rId17" Type="http://schemas.openxmlformats.org/officeDocument/2006/relationships/tags" Target="../tags/tag19.xml"/><Relationship Id="rId18" Type="http://schemas.openxmlformats.org/officeDocument/2006/relationships/slideLayout" Target="../slideLayouts/slideLayout1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3.png"/><Relationship Id="rId22" Type="http://schemas.microsoft.com/office/2007/relationships/hdphoto" Target="../media/hdphoto1.wdp"/><Relationship Id="rId23" Type="http://schemas.openxmlformats.org/officeDocument/2006/relationships/image" Target="../media/image4.png"/><Relationship Id="rId2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tags" Target="../tags/tag44.xml"/><Relationship Id="rId26" Type="http://schemas.openxmlformats.org/officeDocument/2006/relationships/tags" Target="../tags/tag45.xml"/><Relationship Id="rId27" Type="http://schemas.openxmlformats.org/officeDocument/2006/relationships/slideLayout" Target="../slideLayouts/slideLayout1.xml"/><Relationship Id="rId28" Type="http://schemas.openxmlformats.org/officeDocument/2006/relationships/oleObject" Target="../embeddings/oleObject3.bin"/><Relationship Id="rId29" Type="http://schemas.openxmlformats.org/officeDocument/2006/relationships/image" Target="../media/image1.emf"/><Relationship Id="rId30" Type="http://schemas.openxmlformats.org/officeDocument/2006/relationships/image" Target="../media/image6.png"/><Relationship Id="rId31" Type="http://schemas.openxmlformats.org/officeDocument/2006/relationships/image" Target="../media/image7.png"/><Relationship Id="rId32" Type="http://schemas.microsoft.com/office/2007/relationships/hdphoto" Target="../media/hdphoto2.wdp"/><Relationship Id="rId33" Type="http://schemas.openxmlformats.org/officeDocument/2006/relationships/image" Target="../media/image8.png"/><Relationship Id="rId3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rtl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4138168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6947036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1338869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327330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Arial"/>
              </a:rPr>
              <a:t>المتطلبات: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4137892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67813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256131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أكثر من 4.5 غيغاواط ساعة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7,163 طن+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الطاقة الخضراء المولدة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"ثاني أكسيد الكربون المشرَّد المعادل"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1.6 مليون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تجنب ما يعادل الديزل (لتر)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6947036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Arial"/>
              </a:rPr>
              <a:t>شركة تقنيات نظيفة تقدم للشركات والأسر حلول طاقة نظيفة وموثوقة قابلة للتوسيع والتجميع في أفريقيا"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1327330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1327330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Arial"/>
              </a:rPr>
              <a:t>المتطلبات: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4137892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4256131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"80%"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تقليل انبعاثات ثاني أكسيد الكربون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٣ مليون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الثاني أكسيد الكربون المُتجنب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6947036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Arial"/>
              </a:rPr>
              <a:t>شركة فرعية من مدرسة بوليتكنيك لوزان الاتحادية تحول انتقائياً السليلوز والليجن في الولايات المتحدة إلى منتجات كيميائية تضاف قيمة.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327330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1327330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 rtl="1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Arial"/>
              </a:rPr>
              <a:t>المتطلبات: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4137892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4256131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250 مرة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استخدام أراضي أكثر كفاءة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"100%"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إمداد قابل للتتبع وموثوق به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6947036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Arial"/>
              </a:rPr>
              <a:t>منصة تصنيع حيوي مملوكة تنتج دهون ذات قيمة عالية لصناعات الجمال والعناية الشخصية والعناية بالمنزل والغذاء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1327330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9567813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9979703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1446416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12 مليون دولار أمريكي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"3"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1446416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7 مليون دولار أمريكي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"22"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1446416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33.5 مليون دولار أمريكي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"8"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</a:p>
          <a:p>
            <a:pPr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b="1" i="1" u="none" sz="1400">
                <a:solidFill>
                  <a:srgbClr val="000000"/>
                </a:solidFill>
                <a:latin typeface="Arial"/>
              </a:rPr>
              <a:t>نظرة عامة على الفرصة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u="none" sz="2800">
                <a:solidFill>
                  <a:srgbClr val="000000"/>
                </a:solidFill>
                <a:latin typeface="Arial"/>
              </a:rPr>
              <a:t>تم تقييم عدة شركات بناءً على إنجازاتها التكنولوجية والمالية</a:t>
            </a: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rtl="1"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287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endParaRPr lang="en-US" sz="1620" kern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965363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35446" y="3712055"/>
            <a:ext cx="2228210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Hard-to-abate emission capture / carbon valorization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CO2 removal (e.g., flue gas)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CO2 conversion (pyrolysis, hydrolysis, electrolysis, etc.), utilization and sequestration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91678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CARBON CAPTURE</a:t>
            </a:r>
          </a:p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&amp; CCUS</a:t>
            </a:r>
            <a:r>
              <a:rPr lang="en-US" sz="1260" b="1" kern="0" baseline="3000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1</a:t>
            </a:r>
            <a:endParaRPr lang="en-US" sz="1260" b="1" kern="0">
              <a:solidFill>
                <a:srgbClr val="FFFFFF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2442682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385520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en-US" sz="1080" b="1" kern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6536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GHG</a:t>
            </a:r>
            <a:r>
              <a:rPr lang="en-GB" sz="1080" b="1" i="1" kern="0" baseline="30000">
                <a:solidFill>
                  <a:srgbClr val="031122"/>
                </a:solidFill>
                <a:latin typeface="Arial"/>
                <a:cs typeface="Arial"/>
              </a:rPr>
              <a:t>2</a:t>
            </a: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&amp; WASTE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4445544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86459" y="3744496"/>
            <a:ext cx="1877855" cy="14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Enabling clean technologies for industrial inputs 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Water tech / Agri tech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Softer (digital) climate tech and enabling data technologies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New business models</a:t>
            </a:r>
            <a:endParaRPr lang="en-US" sz="1080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386037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Arial"/>
                <a:cs typeface="Arial"/>
              </a:rPr>
              <a:t>INDUSTRIAL INPUTS</a:t>
            </a:r>
            <a:b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Arial"/>
                <a:cs typeface="Arial"/>
              </a:rPr>
              <a:t>TECHNOLOGIES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2955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633018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436739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457446" y="3682350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Hard-to-abate emission reduction and/or avoidance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Decarbonization of industrial power and heat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Long Duration Energy Storage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Biofuels and sustainable fuels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37935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FUEL </a:t>
            </a:r>
            <a:r>
              <a:rPr lang="en-US" sz="1200" b="1" kern="0" dirty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SWITCHING</a:t>
            </a:r>
          </a:p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&amp; ENERGY STORAGE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997165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132657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Arial"/>
                <a:cs typeface="Arial"/>
              </a:rPr>
              <a:t>1 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457447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ENERGY SUPPLY </a:t>
            </a:r>
          </a:p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&amp; STORAGE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6955483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976379" y="3712055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Decarbonized industrial economy facilitation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Energy efficiency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New/advanced materials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Tech addressing carbon regulations and constraints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836254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INDUSTRIAL COST- </a:t>
            </a:r>
            <a:b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SAVING SOLUTIONS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762833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84532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695548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Arial"/>
                <a:ea typeface="Inter Medium" panose="02000503000000020004" pitchFamily="2" charset="0"/>
                <a:cs typeface="Arial"/>
              </a:rPr>
              <a:t>ENERGY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Arial"/>
                <a:ea typeface="Inter Medium" panose="02000503000000020004" pitchFamily="2" charset="0"/>
                <a:cs typeface="Arial"/>
              </a:rPr>
              <a:t>OPTIMIZATION 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4445544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Arial"/>
                <a:ea typeface="Inter Medium" panose="02000503000000020004" pitchFamily="2" charset="0"/>
                <a:cs typeface="Arial"/>
              </a:rPr>
              <a:t>OTHER INDUSTRIAL INPUTS OPTIMIZATION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Life Cycle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Overview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The life cycle of energy consumption is layed out across 4 different core stages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